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7200" b="1">
                <a:solidFill>
                  <a:srgbClr val="06B6D4"/>
                </a:solidFill>
                <a:latin typeface="Segoe UI"/>
              </a:defRPr>
            </a:pPr>
            <a:r>
              <a:t>PARKSENSE AI</a:t>
            </a:r>
          </a:p>
          <a:p>
            <a:pPr>
              <a:spcAft>
                <a:spcPts val="2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Closed-Loop Parking Congestion &amp; Enforcement Intelligence Platform</a:t>
            </a:r>
          </a:p>
          <a:p>
            <a:pPr>
              <a:defRPr sz="1600">
                <a:solidFill>
                  <a:srgbClr val="9CA3AF"/>
                </a:solidFill>
                <a:latin typeface="Segoe UI"/>
              </a:defRPr>
            </a:pPr>
            <a:r>
              <a:t>A Smart City Solution deployed for Bengaluru Traffic Police (BTP)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Challenge: Parking Inefficiency &amp; Gridlocks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Operational Pain Points</a:t>
            </a:r>
          </a:p>
          <a:p>
            <a:pPr>
              <a:lnSpc>
                <a:spcPct val="130000"/>
              </a:lnSpc>
              <a:defRPr sz="1500">
                <a:solidFill>
                  <a:srgbClr val="9CA3AF"/>
                </a:solidFill>
                <a:latin typeface="Segoe UI"/>
              </a:defRPr>
            </a:pPr>
            <a:r>
              <a:t>• Traffic Friction: Double parking and footpath parking reduce lane width, cutting carrying capacity in half.</a:t>
            </a:r>
            <a:br/>
            <a:br/>
            <a:r>
              <a:t>• Blind Spot Deployment: Patrol units are dispatched dynamically via guess-work, missing emerging congestion zones.</a:t>
            </a:r>
            <a:br/>
            <a:br/>
            <a:r>
              <a:t>• Patrol Log Bias: Citation statistics only exist where police currently patrol, skewing standard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EF4444"/>
                </a:solidFill>
                <a:latin typeface="Segoe UI"/>
              </a:defRPr>
            </a:pPr>
            <a:r>
              <a:t>45% Reduction</a:t>
            </a:r>
          </a:p>
          <a:p>
            <a:pPr>
              <a:defRPr sz="1400">
                <a:solidFill>
                  <a:srgbClr val="FFFFFF"/>
                </a:solidFill>
                <a:latin typeface="Segoe UI"/>
              </a:defRPr>
            </a:pPr>
            <a:r>
              <a:t>Carriageway capacity cut along critical urban corridors.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02336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298,000 Records</a:t>
            </a:r>
          </a:p>
          <a:p>
            <a:pPr>
              <a:defRPr sz="1400">
                <a:solidFill>
                  <a:srgbClr val="9CA3AF"/>
                </a:solidFill>
                <a:latin typeface="Segoe UI"/>
              </a:defRPr>
            </a:pPr>
            <a:r>
              <a:t>Historical parking violations ingested across Bengaluru.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Pipeline: Seamless Closed-Loop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t>1. INGEST &amp; FORECAST</a:t>
            </a:r>
          </a:p>
          <a:p>
            <a:pPr>
              <a:lnSpc>
                <a:spcPct val="130000"/>
              </a:lnSpc>
              <a:defRPr sz="1400">
                <a:solidFill>
                  <a:srgbClr val="9CA3AF"/>
                </a:solidFill>
                <a:latin typeface="Segoe UI"/>
              </a:defRPr>
            </a:pPr>
            <a:r>
              <a:t>LightGBM regressor models risk profiles across H3 resolution 8 cells using temporal splits.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28800"/>
            <a:ext cx="24688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0312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2. CAMERA DETECTION</a:t>
            </a:r>
          </a:p>
          <a:p>
            <a:pPr>
              <a:lnSpc>
                <a:spcPct val="130000"/>
              </a:lnSpc>
              <a:defRPr sz="1400">
                <a:solidFill>
                  <a:srgbClr val="9CA3AF"/>
                </a:solidFill>
                <a:latin typeface="Segoe UI"/>
              </a:defRPr>
            </a:pPr>
            <a:r>
              <a:t>CCTV edge camera detects stopped cars. If &gt;10s geofence breach occurs, owner gets warning SMS.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828800"/>
            <a:ext cx="24688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3. DYNAMIC ROUTING</a:t>
            </a:r>
          </a:p>
          <a:p>
            <a:pPr>
              <a:lnSpc>
                <a:spcPct val="130000"/>
              </a:lnSpc>
              <a:defRPr sz="1400">
                <a:solidFill>
                  <a:srgbClr val="9CA3AF"/>
                </a:solidFill>
                <a:latin typeface="Segoe UI"/>
              </a:defRPr>
            </a:pPr>
            <a:r>
              <a:t>If warning is ignored, system aggregates targets via K-Means and snaps optimized TSP to roads.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828800"/>
            <a:ext cx="246888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210312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8B5CF6"/>
                </a:solidFill>
                <a:latin typeface="Segoe UI"/>
              </a:defRPr>
            </a:pPr>
            <a:r>
              <a:t>4. FEEDBACK LOOP</a:t>
            </a:r>
          </a:p>
          <a:p>
            <a:pPr>
              <a:lnSpc>
                <a:spcPct val="130000"/>
              </a:lnSpc>
              <a:defRPr sz="1400">
                <a:solidFill>
                  <a:srgbClr val="9CA3AF"/>
                </a:solidFill>
                <a:latin typeface="Segoe UI"/>
              </a:defRPr>
            </a:pPr>
            <a:r>
              <a:t>Once field officer clears the bottleneck, scores dynamically decay by 45%, retuning the online ML loop.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Predictive Risk &amp; Local Explainability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Temporal Time-Series Split</a:t>
            </a:r>
          </a:p>
          <a:p>
            <a:pPr>
              <a:lnSpc>
                <a:spcPct val="130000"/>
              </a:lnSpc>
              <a:defRPr sz="1500">
                <a:solidFill>
                  <a:srgbClr val="9CA3AF"/>
                </a:solidFill>
                <a:latin typeface="Segoe UI"/>
              </a:defRPr>
            </a:pPr>
            <a:r>
              <a:t>• Defensible Split: Trains on weeks &lt; 52 and validates on week 52. Ensures zero spatial-temporal autocorrelation leak.</a:t>
            </a:r>
            <a:br/>
            <a:br/>
            <a:r>
              <a:t>• Hotspot Boundary: Integrates a binary classifier threshold at &gt;= 15.0 violations/hour.</a:t>
            </a:r>
            <a:br/>
            <a:br/>
            <a:r>
              <a:t>• Regression Focus: Predicts continuous counts mapping exact volume scaling.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8B5CF6"/>
                </a:solidFill>
                <a:latin typeface="Segoe UI"/>
              </a:defRPr>
            </a:pPr>
            <a:r>
              <a:t>Local Explainability (SHAP)</a:t>
            </a:r>
          </a:p>
          <a:p>
            <a:pPr>
              <a:lnSpc>
                <a:spcPct val="130000"/>
              </a:lnSpc>
              <a:defRPr sz="1500">
                <a:solidFill>
                  <a:srgbClr val="9CA3AF"/>
                </a:solidFill>
                <a:latin typeface="Segoe UI"/>
              </a:defRPr>
            </a:pPr>
            <a:r>
              <a:t>• Visual Transparency: Renders SHAP waterfall impact charts for every single prediction, building trust with dispatch operators.</a:t>
            </a:r>
            <a:br/>
            <a:br/>
            <a:r>
              <a:t>• Rationale breakdown: Points out direct feature weights driving risk (e.g. proximity to critical intersections (+12.4), peak hours (+8.2), rain scaling (+5.1)).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CCTV Video Analytics &amp; Pre-Enforcement Warning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Edge-AI Vehicle Detection</a:t>
            </a:r>
          </a:p>
          <a:p>
            <a:pPr>
              <a:lnSpc>
                <a:spcPct val="130000"/>
              </a:lnSpc>
              <a:defRPr sz="1500">
                <a:solidFill>
                  <a:srgbClr val="9CA3AF"/>
                </a:solidFill>
                <a:latin typeface="Segoe UI"/>
              </a:defRPr>
            </a:pPr>
            <a:r>
              <a:t>• Canvas Simulator: Emulates CV model tracking vehicle bounding boxes (moving, stopped, breached).</a:t>
            </a:r>
            <a:br/>
            <a:br/>
            <a:r>
              <a:t>• Geofenced corridors: Monitors lanes inside red zones. Stopped coordinates initiate active stationary timers.</a:t>
            </a:r>
            <a:br/>
            <a:br/>
            <a:r>
              <a:t>• Automated Ingestion: Breaches exceeding 10s automatically post violation logs to backend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06B6D4"/>
                </a:solidFill>
                <a:latin typeface="Segoe UI"/>
              </a:defRPr>
            </a:pPr>
            <a:r>
              <a:t>VAHAN Pre-Enforcement Warnings</a:t>
            </a:r>
          </a:p>
          <a:p>
            <a:pPr>
              <a:lnSpc>
                <a:spcPct val="130000"/>
              </a:lnSpc>
              <a:defRPr sz="1500">
                <a:solidFill>
                  <a:srgbClr val="9CA3AF"/>
                </a:solidFill>
                <a:latin typeface="Segoe UI"/>
              </a:defRPr>
            </a:pPr>
            <a:r>
              <a:t>• Automatic Owner Query: License plates query mock registry mapping owner details instantly.</a:t>
            </a:r>
            <a:br/>
            <a:br/>
            <a:r>
              <a:t>• warning SMS timeline: Dispatches warning SMS. Demonstrates 40% driver compliance, resolving blockages before dispatching physical units.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High-Performance Dynamic Route Solvers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Dynamic Patrol Dispatch</a:t>
            </a:r>
          </a:p>
          <a:p>
            <a:pPr>
              <a:lnSpc>
                <a:spcPct val="130000"/>
              </a:lnSpc>
              <a:defRPr sz="1500">
                <a:solidFill>
                  <a:srgbClr val="9CA3AF"/>
                </a:solidFill>
                <a:latin typeface="Segoe UI"/>
              </a:defRPr>
            </a:pPr>
            <a:r>
              <a:t>• Sample Weighted K-Means: Groups active hotspot targets into patrol zones, prioritizing locations with high Congestion Impact Scores (CIS).</a:t>
            </a:r>
            <a:br/>
            <a:br/>
            <a:r>
              <a:t>• Snapped road coordinates: Solves Greedy TSP pathing and curves routes along actual roads (OSRM Integration) rather than straight 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06B6D4"/>
                </a:solidFill>
                <a:latin typeface="Segoe UI"/>
              </a:defRPr>
            </a:pPr>
            <a:r>
              <a:t>Sub-5ms Cache Fallbacks</a:t>
            </a:r>
          </a:p>
          <a:p>
            <a:pPr>
              <a:lnSpc>
                <a:spcPct val="130000"/>
              </a:lnSpc>
              <a:defRPr sz="1500">
                <a:solidFill>
                  <a:srgbClr val="9CA3AF"/>
                </a:solidFill>
                <a:latin typeface="Segoe UI"/>
              </a:defRPr>
            </a:pPr>
            <a:r>
              <a:t>• Dynamic solving lag: On-the-fly calls can take up to 30s. We pre-compute profiles for officer counts 1–20 to deliver instant dashboard load times.</a:t>
            </a:r>
            <a:br/>
            <a:br/>
            <a:r>
              <a:t>• Closest-Match routing: Server dynamically serves closest pre-computed count to bypass OSRM API timeouts or limits.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FEEDBACK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Field Officer Actions &amp; Dynamic Congestion Decay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Field Officer Mobile Portal</a:t>
            </a:r>
          </a:p>
          <a:p>
            <a:pPr>
              <a:lnSpc>
                <a:spcPct val="130000"/>
              </a:lnSpc>
              <a:defRPr sz="1500">
                <a:solidFill>
                  <a:srgbClr val="9CA3AF"/>
                </a:solidFill>
                <a:latin typeface="Segoe UI"/>
              </a:defRPr>
            </a:pPr>
            <a:r>
              <a:t>• Mobile Responsiveness: Collapses sidebar and grid views into a clean, vertically stacked list for mobile usage.</a:t>
            </a:r>
            <a:br/>
            <a:br/>
            <a:r>
              <a:t>• Clearance: Officers check off resolved violations, sending a POST hook directly to the model retraining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8B5CF6"/>
                </a:solidFill>
                <a:latin typeface="Segoe UI"/>
              </a:defRPr>
            </a:pPr>
            <a:r>
              <a:t>Online Decay Feedback Loop</a:t>
            </a:r>
          </a:p>
          <a:p>
            <a:pPr>
              <a:lnSpc>
                <a:spcPct val="130000"/>
              </a:lnSpc>
              <a:defRPr sz="1500">
                <a:solidFill>
                  <a:srgbClr val="9CA3AF"/>
                </a:solidFill>
                <a:latin typeface="Segoe UI"/>
              </a:defRPr>
            </a:pPr>
            <a:r>
              <a:t>• Active Score Decay: Clearing a cell triggers online decay feedback, subtracting -45.0 from the active CIS and predictions in real-time.</a:t>
            </a:r>
            <a:br/>
            <a:br/>
            <a:r>
              <a:t>• Congestion ROI indicators: Computes exact travel time saved (delay minutes/hour) and queue length reductions dynamically to prove operational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Why ParkSense AI Wins the Top-10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06B6D4"/>
                </a:solidFill>
                <a:latin typeface="Segoe UI"/>
              </a:defRPr>
            </a:pPr>
            <a:r>
              <a:t>Operational Resource ROI</a:t>
            </a:r>
          </a:p>
          <a:p>
            <a:pPr>
              <a:lnSpc>
                <a:spcPct val="130000"/>
              </a:lnSpc>
              <a:defRPr sz="1400">
                <a:solidFill>
                  <a:srgbClr val="9CA3AF"/>
                </a:solidFill>
                <a:latin typeface="Segoe UI"/>
              </a:defRPr>
            </a:pPr>
            <a:r>
              <a:t>Automated SMS warnings successfully clear 40% of obstructions, preserving municipal patrol personnel for high-risk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8B5CF6"/>
                </a:solidFill>
                <a:latin typeface="Segoe UI"/>
              </a:defRPr>
            </a:pPr>
            <a:r>
              <a:t>Defensible Pipeline</a:t>
            </a:r>
          </a:p>
          <a:p>
            <a:pPr>
              <a:lnSpc>
                <a:spcPct val="130000"/>
              </a:lnSpc>
              <a:defRPr sz="1400">
                <a:solidFill>
                  <a:srgbClr val="9CA3AF"/>
                </a:solidFill>
                <a:latin typeface="Segoe UI"/>
              </a:defRPr>
            </a:pPr>
            <a:r>
              <a:t>Temporal validation splits, SHAP model explainability waterfalls, and real-time decay feedback loops guarantee academic and operational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1031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06B6D4"/>
                </a:solidFill>
                <a:latin typeface="Segoe UI"/>
              </a:defRPr>
            </a:pPr>
            <a:r>
              <a:t>City-Wide Scale</a:t>
            </a:r>
          </a:p>
          <a:p>
            <a:pPr>
              <a:lnSpc>
                <a:spcPct val="130000"/>
              </a:lnSpc>
              <a:defRPr sz="1400">
                <a:solidFill>
                  <a:srgbClr val="9CA3AF"/>
                </a:solidFill>
                <a:latin typeface="Segoe UI"/>
              </a:defRPr>
            </a:pPr>
            <a:r>
              <a:t>Snaps OSRM coordinates dynamically across Bengaluru, responding instantly (&lt;5ms) to support thousands of active dispatches.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